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7463413" cy="210677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ABAB"/>
    <a:srgbClr val="E51936"/>
    <a:srgbClr val="E2C365"/>
    <a:srgbClr val="F7D36D"/>
    <a:srgbClr val="8E1223"/>
    <a:srgbClr val="F1364C"/>
    <a:srgbClr val="C2172F"/>
    <a:srgbClr val="F3002C"/>
    <a:srgbClr val="EE6C7F"/>
    <a:srgbClr val="FF1D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98"/>
    <p:restoredTop sz="95859"/>
  </p:normalViewPr>
  <p:slideViewPr>
    <p:cSldViewPr snapToGrid="0">
      <p:cViewPr varScale="1">
        <p:scale>
          <a:sx n="39" d="100"/>
          <a:sy n="39" d="100"/>
        </p:scale>
        <p:origin x="24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82927" y="3447889"/>
            <a:ext cx="28097560" cy="7334685"/>
          </a:xfrm>
        </p:spPr>
        <p:txBody>
          <a:bodyPr anchor="b"/>
          <a:lstStyle>
            <a:lvl1pPr algn="ctr">
              <a:defRPr sz="184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82927" y="11065427"/>
            <a:ext cx="28097560" cy="5086486"/>
          </a:xfrm>
        </p:spPr>
        <p:txBody>
          <a:bodyPr/>
          <a:lstStyle>
            <a:lvl1pPr marL="0" indent="0" algn="ctr">
              <a:buNone/>
              <a:defRPr sz="7373"/>
            </a:lvl1pPr>
            <a:lvl2pPr marL="1404518" indent="0" algn="ctr">
              <a:buNone/>
              <a:defRPr sz="6144"/>
            </a:lvl2pPr>
            <a:lvl3pPr marL="2809037" indent="0" algn="ctr">
              <a:buNone/>
              <a:defRPr sz="5530"/>
            </a:lvl3pPr>
            <a:lvl4pPr marL="4213555" indent="0" algn="ctr">
              <a:buNone/>
              <a:defRPr sz="4915"/>
            </a:lvl4pPr>
            <a:lvl5pPr marL="5618074" indent="0" algn="ctr">
              <a:buNone/>
              <a:defRPr sz="4915"/>
            </a:lvl5pPr>
            <a:lvl6pPr marL="7022592" indent="0" algn="ctr">
              <a:buNone/>
              <a:defRPr sz="4915"/>
            </a:lvl6pPr>
            <a:lvl7pPr marL="8427110" indent="0" algn="ctr">
              <a:buNone/>
              <a:defRPr sz="4915"/>
            </a:lvl7pPr>
            <a:lvl8pPr marL="9831629" indent="0" algn="ctr">
              <a:buNone/>
              <a:defRPr sz="4915"/>
            </a:lvl8pPr>
            <a:lvl9pPr marL="11236147" indent="0" algn="ctr">
              <a:buNone/>
              <a:defRPr sz="491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2142-0B5B-784B-BAF2-FD1A08868190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BE28-C006-5147-B4C2-8741B2D15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77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2142-0B5B-784B-BAF2-FD1A08868190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BE28-C006-5147-B4C2-8741B2D15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9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097" y="5252301"/>
            <a:ext cx="32312194" cy="8763582"/>
          </a:xfrm>
        </p:spPr>
        <p:txBody>
          <a:bodyPr anchor="b"/>
          <a:lstStyle>
            <a:lvl1pPr>
              <a:defRPr sz="184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6097" y="14098790"/>
            <a:ext cx="32312194" cy="4608561"/>
          </a:xfrm>
        </p:spPr>
        <p:txBody>
          <a:bodyPr/>
          <a:lstStyle>
            <a:lvl1pPr marL="0" indent="0">
              <a:buNone/>
              <a:defRPr sz="7373">
                <a:solidFill>
                  <a:schemeClr val="tx1">
                    <a:tint val="75000"/>
                  </a:schemeClr>
                </a:solidFill>
              </a:defRPr>
            </a:lvl1pPr>
            <a:lvl2pPr marL="1404518" indent="0">
              <a:buNone/>
              <a:defRPr sz="6144">
                <a:solidFill>
                  <a:schemeClr val="tx1">
                    <a:tint val="75000"/>
                  </a:schemeClr>
                </a:solidFill>
              </a:defRPr>
            </a:lvl2pPr>
            <a:lvl3pPr marL="2809037" indent="0">
              <a:buNone/>
              <a:defRPr sz="5530">
                <a:solidFill>
                  <a:schemeClr val="tx1">
                    <a:tint val="75000"/>
                  </a:schemeClr>
                </a:solidFill>
              </a:defRPr>
            </a:lvl3pPr>
            <a:lvl4pPr marL="4213555" indent="0">
              <a:buNone/>
              <a:defRPr sz="4915">
                <a:solidFill>
                  <a:schemeClr val="tx1">
                    <a:tint val="75000"/>
                  </a:schemeClr>
                </a:solidFill>
              </a:defRPr>
            </a:lvl4pPr>
            <a:lvl5pPr marL="5618074" indent="0">
              <a:buNone/>
              <a:defRPr sz="4915">
                <a:solidFill>
                  <a:schemeClr val="tx1">
                    <a:tint val="75000"/>
                  </a:schemeClr>
                </a:solidFill>
              </a:defRPr>
            </a:lvl5pPr>
            <a:lvl6pPr marL="7022592" indent="0">
              <a:buNone/>
              <a:defRPr sz="4915">
                <a:solidFill>
                  <a:schemeClr val="tx1">
                    <a:tint val="75000"/>
                  </a:schemeClr>
                </a:solidFill>
              </a:defRPr>
            </a:lvl6pPr>
            <a:lvl7pPr marL="8427110" indent="0">
              <a:buNone/>
              <a:defRPr sz="4915">
                <a:solidFill>
                  <a:schemeClr val="tx1">
                    <a:tint val="75000"/>
                  </a:schemeClr>
                </a:solidFill>
              </a:defRPr>
            </a:lvl7pPr>
            <a:lvl8pPr marL="9831629" indent="0">
              <a:buNone/>
              <a:defRPr sz="4915">
                <a:solidFill>
                  <a:schemeClr val="tx1">
                    <a:tint val="75000"/>
                  </a:schemeClr>
                </a:solidFill>
              </a:defRPr>
            </a:lvl8pPr>
            <a:lvl9pPr marL="11236147" indent="0">
              <a:buNone/>
              <a:defRPr sz="49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2142-0B5B-784B-BAF2-FD1A08868190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BE28-C006-5147-B4C2-8741B2D15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9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5609" y="5608303"/>
            <a:ext cx="15921951" cy="13367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965853" y="5608303"/>
            <a:ext cx="15921951" cy="13367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2142-0B5B-784B-BAF2-FD1A08868190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BE28-C006-5147-B4C2-8741B2D15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9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0489" y="1121662"/>
            <a:ext cx="32312194" cy="40721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0491" y="5164517"/>
            <a:ext cx="15848778" cy="2531050"/>
          </a:xfrm>
        </p:spPr>
        <p:txBody>
          <a:bodyPr anchor="b"/>
          <a:lstStyle>
            <a:lvl1pPr marL="0" indent="0">
              <a:buNone/>
              <a:defRPr sz="7373" b="1"/>
            </a:lvl1pPr>
            <a:lvl2pPr marL="1404518" indent="0">
              <a:buNone/>
              <a:defRPr sz="6144" b="1"/>
            </a:lvl2pPr>
            <a:lvl3pPr marL="2809037" indent="0">
              <a:buNone/>
              <a:defRPr sz="5530" b="1"/>
            </a:lvl3pPr>
            <a:lvl4pPr marL="4213555" indent="0">
              <a:buNone/>
              <a:defRPr sz="4915" b="1"/>
            </a:lvl4pPr>
            <a:lvl5pPr marL="5618074" indent="0">
              <a:buNone/>
              <a:defRPr sz="4915" b="1"/>
            </a:lvl5pPr>
            <a:lvl6pPr marL="7022592" indent="0">
              <a:buNone/>
              <a:defRPr sz="4915" b="1"/>
            </a:lvl6pPr>
            <a:lvl7pPr marL="8427110" indent="0">
              <a:buNone/>
              <a:defRPr sz="4915" b="1"/>
            </a:lvl7pPr>
            <a:lvl8pPr marL="9831629" indent="0">
              <a:buNone/>
              <a:defRPr sz="4915" b="1"/>
            </a:lvl8pPr>
            <a:lvl9pPr marL="11236147" indent="0">
              <a:buNone/>
              <a:defRPr sz="49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0491" y="7695568"/>
            <a:ext cx="15848778" cy="11319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965853" y="5164517"/>
            <a:ext cx="15926830" cy="2531050"/>
          </a:xfrm>
        </p:spPr>
        <p:txBody>
          <a:bodyPr anchor="b"/>
          <a:lstStyle>
            <a:lvl1pPr marL="0" indent="0">
              <a:buNone/>
              <a:defRPr sz="7373" b="1"/>
            </a:lvl1pPr>
            <a:lvl2pPr marL="1404518" indent="0">
              <a:buNone/>
              <a:defRPr sz="6144" b="1"/>
            </a:lvl2pPr>
            <a:lvl3pPr marL="2809037" indent="0">
              <a:buNone/>
              <a:defRPr sz="5530" b="1"/>
            </a:lvl3pPr>
            <a:lvl4pPr marL="4213555" indent="0">
              <a:buNone/>
              <a:defRPr sz="4915" b="1"/>
            </a:lvl4pPr>
            <a:lvl5pPr marL="5618074" indent="0">
              <a:buNone/>
              <a:defRPr sz="4915" b="1"/>
            </a:lvl5pPr>
            <a:lvl6pPr marL="7022592" indent="0">
              <a:buNone/>
              <a:defRPr sz="4915" b="1"/>
            </a:lvl6pPr>
            <a:lvl7pPr marL="8427110" indent="0">
              <a:buNone/>
              <a:defRPr sz="4915" b="1"/>
            </a:lvl7pPr>
            <a:lvl8pPr marL="9831629" indent="0">
              <a:buNone/>
              <a:defRPr sz="4915" b="1"/>
            </a:lvl8pPr>
            <a:lvl9pPr marL="11236147" indent="0">
              <a:buNone/>
              <a:defRPr sz="49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965853" y="7695568"/>
            <a:ext cx="15926830" cy="11319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2142-0B5B-784B-BAF2-FD1A08868190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BE28-C006-5147-B4C2-8741B2D15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0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2142-0B5B-784B-BAF2-FD1A08868190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BE28-C006-5147-B4C2-8741B2D15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0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2142-0B5B-784B-BAF2-FD1A08868190}" type="datetimeFigureOut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BE28-C006-5147-B4C2-8741B2D15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150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0491" y="1404514"/>
            <a:ext cx="12082925" cy="4915800"/>
          </a:xfrm>
        </p:spPr>
        <p:txBody>
          <a:bodyPr anchor="b"/>
          <a:lstStyle>
            <a:lvl1pPr>
              <a:defRPr sz="98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6830" y="3033362"/>
            <a:ext cx="18965853" cy="14971731"/>
          </a:xfrm>
        </p:spPr>
        <p:txBody>
          <a:bodyPr/>
          <a:lstStyle>
            <a:lvl1pPr>
              <a:defRPr sz="9830"/>
            </a:lvl1pPr>
            <a:lvl2pPr>
              <a:defRPr sz="8602"/>
            </a:lvl2pPr>
            <a:lvl3pPr>
              <a:defRPr sz="7373"/>
            </a:lvl3pPr>
            <a:lvl4pPr>
              <a:defRPr sz="6144"/>
            </a:lvl4pPr>
            <a:lvl5pPr>
              <a:defRPr sz="6144"/>
            </a:lvl5pPr>
            <a:lvl6pPr>
              <a:defRPr sz="6144"/>
            </a:lvl6pPr>
            <a:lvl7pPr>
              <a:defRPr sz="6144"/>
            </a:lvl7pPr>
            <a:lvl8pPr>
              <a:defRPr sz="6144"/>
            </a:lvl8pPr>
            <a:lvl9pPr>
              <a:defRPr sz="61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0491" y="6320314"/>
            <a:ext cx="12082925" cy="11709163"/>
          </a:xfrm>
        </p:spPr>
        <p:txBody>
          <a:bodyPr/>
          <a:lstStyle>
            <a:lvl1pPr marL="0" indent="0">
              <a:buNone/>
              <a:defRPr sz="4915"/>
            </a:lvl1pPr>
            <a:lvl2pPr marL="1404518" indent="0">
              <a:buNone/>
              <a:defRPr sz="4301"/>
            </a:lvl2pPr>
            <a:lvl3pPr marL="2809037" indent="0">
              <a:buNone/>
              <a:defRPr sz="3686"/>
            </a:lvl3pPr>
            <a:lvl4pPr marL="4213555" indent="0">
              <a:buNone/>
              <a:defRPr sz="3072"/>
            </a:lvl4pPr>
            <a:lvl5pPr marL="5618074" indent="0">
              <a:buNone/>
              <a:defRPr sz="3072"/>
            </a:lvl5pPr>
            <a:lvl6pPr marL="7022592" indent="0">
              <a:buNone/>
              <a:defRPr sz="3072"/>
            </a:lvl6pPr>
            <a:lvl7pPr marL="8427110" indent="0">
              <a:buNone/>
              <a:defRPr sz="3072"/>
            </a:lvl7pPr>
            <a:lvl8pPr marL="9831629" indent="0">
              <a:buNone/>
              <a:defRPr sz="3072"/>
            </a:lvl8pPr>
            <a:lvl9pPr marL="11236147" indent="0">
              <a:buNone/>
              <a:defRPr sz="30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2142-0B5B-784B-BAF2-FD1A08868190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BE28-C006-5147-B4C2-8741B2D15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4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0491" y="1404514"/>
            <a:ext cx="12082925" cy="4915800"/>
          </a:xfrm>
        </p:spPr>
        <p:txBody>
          <a:bodyPr anchor="b"/>
          <a:lstStyle>
            <a:lvl1pPr>
              <a:defRPr sz="98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926830" y="3033362"/>
            <a:ext cx="18965853" cy="14971731"/>
          </a:xfrm>
        </p:spPr>
        <p:txBody>
          <a:bodyPr anchor="t"/>
          <a:lstStyle>
            <a:lvl1pPr marL="0" indent="0">
              <a:buNone/>
              <a:defRPr sz="9830"/>
            </a:lvl1pPr>
            <a:lvl2pPr marL="1404518" indent="0">
              <a:buNone/>
              <a:defRPr sz="8602"/>
            </a:lvl2pPr>
            <a:lvl3pPr marL="2809037" indent="0">
              <a:buNone/>
              <a:defRPr sz="7373"/>
            </a:lvl3pPr>
            <a:lvl4pPr marL="4213555" indent="0">
              <a:buNone/>
              <a:defRPr sz="6144"/>
            </a:lvl4pPr>
            <a:lvl5pPr marL="5618074" indent="0">
              <a:buNone/>
              <a:defRPr sz="6144"/>
            </a:lvl5pPr>
            <a:lvl6pPr marL="7022592" indent="0">
              <a:buNone/>
              <a:defRPr sz="6144"/>
            </a:lvl6pPr>
            <a:lvl7pPr marL="8427110" indent="0">
              <a:buNone/>
              <a:defRPr sz="6144"/>
            </a:lvl7pPr>
            <a:lvl8pPr marL="9831629" indent="0">
              <a:buNone/>
              <a:defRPr sz="6144"/>
            </a:lvl8pPr>
            <a:lvl9pPr marL="11236147" indent="0">
              <a:buNone/>
              <a:defRPr sz="614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0491" y="6320314"/>
            <a:ext cx="12082925" cy="11709163"/>
          </a:xfrm>
        </p:spPr>
        <p:txBody>
          <a:bodyPr/>
          <a:lstStyle>
            <a:lvl1pPr marL="0" indent="0">
              <a:buNone/>
              <a:defRPr sz="4915"/>
            </a:lvl1pPr>
            <a:lvl2pPr marL="1404518" indent="0">
              <a:buNone/>
              <a:defRPr sz="4301"/>
            </a:lvl2pPr>
            <a:lvl3pPr marL="2809037" indent="0">
              <a:buNone/>
              <a:defRPr sz="3686"/>
            </a:lvl3pPr>
            <a:lvl4pPr marL="4213555" indent="0">
              <a:buNone/>
              <a:defRPr sz="3072"/>
            </a:lvl4pPr>
            <a:lvl5pPr marL="5618074" indent="0">
              <a:buNone/>
              <a:defRPr sz="3072"/>
            </a:lvl5pPr>
            <a:lvl6pPr marL="7022592" indent="0">
              <a:buNone/>
              <a:defRPr sz="3072"/>
            </a:lvl6pPr>
            <a:lvl7pPr marL="8427110" indent="0">
              <a:buNone/>
              <a:defRPr sz="3072"/>
            </a:lvl7pPr>
            <a:lvl8pPr marL="9831629" indent="0">
              <a:buNone/>
              <a:defRPr sz="3072"/>
            </a:lvl8pPr>
            <a:lvl9pPr marL="11236147" indent="0">
              <a:buNone/>
              <a:defRPr sz="30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2142-0B5B-784B-BAF2-FD1A08868190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BE28-C006-5147-B4C2-8741B2D15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3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2142-0B5B-784B-BAF2-FD1A08868190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BE28-C006-5147-B4C2-8741B2D15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97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809755" y="1121661"/>
            <a:ext cx="8078048" cy="17853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5609" y="1121661"/>
            <a:ext cx="23765853" cy="17853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2142-0B5B-784B-BAF2-FD1A08868190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BE28-C006-5147-B4C2-8741B2D15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15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75610" y="1121662"/>
            <a:ext cx="32312194" cy="4072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5610" y="5608303"/>
            <a:ext cx="32312194" cy="13367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75610" y="19526650"/>
            <a:ext cx="8429268" cy="1121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B2142-0B5B-784B-BAF2-FD1A08868190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409756" y="19526650"/>
            <a:ext cx="12643902" cy="1121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458535" y="19526650"/>
            <a:ext cx="8429268" cy="1121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BBE28-C006-5147-B4C2-8741B2D15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82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09037" rtl="0" eaLnBrk="1" latinLnBrk="0" hangingPunct="1">
        <a:lnSpc>
          <a:spcPct val="90000"/>
        </a:lnSpc>
        <a:spcBef>
          <a:spcPct val="0"/>
        </a:spcBef>
        <a:buNone/>
        <a:defRPr sz="135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02259" indent="-702259" algn="l" defTabSz="2809037" rtl="0" eaLnBrk="1" latinLnBrk="0" hangingPunct="1">
        <a:lnSpc>
          <a:spcPct val="90000"/>
        </a:lnSpc>
        <a:spcBef>
          <a:spcPts val="3072"/>
        </a:spcBef>
        <a:buFont typeface="Arial" panose="020B0604020202020204" pitchFamily="34" charset="0"/>
        <a:buChar char="•"/>
        <a:defRPr sz="8602" kern="1200">
          <a:solidFill>
            <a:schemeClr val="tx1"/>
          </a:solidFill>
          <a:latin typeface="+mn-lt"/>
          <a:ea typeface="+mn-ea"/>
          <a:cs typeface="+mn-cs"/>
        </a:defRPr>
      </a:lvl1pPr>
      <a:lvl2pPr marL="2106778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7373" kern="1200">
          <a:solidFill>
            <a:schemeClr val="tx1"/>
          </a:solidFill>
          <a:latin typeface="+mn-lt"/>
          <a:ea typeface="+mn-ea"/>
          <a:cs typeface="+mn-cs"/>
        </a:defRPr>
      </a:lvl2pPr>
      <a:lvl3pPr marL="3511296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6144" kern="1200">
          <a:solidFill>
            <a:schemeClr val="tx1"/>
          </a:solidFill>
          <a:latin typeface="+mn-lt"/>
          <a:ea typeface="+mn-ea"/>
          <a:cs typeface="+mn-cs"/>
        </a:defRPr>
      </a:lvl3pPr>
      <a:lvl4pPr marL="4915814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4pPr>
      <a:lvl5pPr marL="6320333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5pPr>
      <a:lvl6pPr marL="7724851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6pPr>
      <a:lvl7pPr marL="9129370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7pPr>
      <a:lvl8pPr marL="10533888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8pPr>
      <a:lvl9pPr marL="11938406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1pPr>
      <a:lvl2pPr marL="1404518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2pPr>
      <a:lvl3pPr marL="2809037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3pPr>
      <a:lvl4pPr marL="4213555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4pPr>
      <a:lvl5pPr marL="5618074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5pPr>
      <a:lvl6pPr marL="7022592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6pPr>
      <a:lvl7pPr marL="8427110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7pPr>
      <a:lvl8pPr marL="9831629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8pPr>
      <a:lvl9pPr marL="11236147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3B32294A-4E8E-1393-547B-E96B741343A1}"/>
              </a:ext>
            </a:extLst>
          </p:cNvPr>
          <p:cNvGrpSpPr/>
          <p:nvPr/>
        </p:nvGrpSpPr>
        <p:grpSpPr>
          <a:xfrm>
            <a:off x="0" y="0"/>
            <a:ext cx="37463413" cy="21067713"/>
            <a:chOff x="0" y="-146144"/>
            <a:chExt cx="32763834" cy="210677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D2F7A40-2908-717B-A84A-1164F7261F5D}"/>
                </a:ext>
              </a:extLst>
            </p:cNvPr>
            <p:cNvSpPr/>
            <p:nvPr/>
          </p:nvSpPr>
          <p:spPr>
            <a:xfrm>
              <a:off x="265619" y="256032"/>
              <a:ext cx="32208862" cy="3913632"/>
            </a:xfrm>
            <a:prstGeom prst="rect">
              <a:avLst/>
            </a:prstGeom>
            <a:solidFill>
              <a:srgbClr val="E51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CF4EC1-472C-3BE0-8930-4D49C39C6CE1}"/>
                </a:ext>
              </a:extLst>
            </p:cNvPr>
            <p:cNvSpPr/>
            <p:nvPr/>
          </p:nvSpPr>
          <p:spPr>
            <a:xfrm>
              <a:off x="21680009" y="4274548"/>
              <a:ext cx="10794472" cy="1650056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6C61FD-CEBC-606E-CC33-7F177F428DD3}"/>
                </a:ext>
              </a:extLst>
            </p:cNvPr>
            <p:cNvSpPr/>
            <p:nvPr/>
          </p:nvSpPr>
          <p:spPr>
            <a:xfrm>
              <a:off x="10298975" y="4335896"/>
              <a:ext cx="10897151" cy="1650056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D7FF51-AF18-5CA1-95A7-E902628CED17}"/>
                </a:ext>
              </a:extLst>
            </p:cNvPr>
            <p:cNvSpPr/>
            <p:nvPr/>
          </p:nvSpPr>
          <p:spPr>
            <a:xfrm>
              <a:off x="265619" y="4431792"/>
              <a:ext cx="9888680" cy="1637988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C7772F-B9A3-2210-AC2B-C63A25D2DD97}"/>
                </a:ext>
              </a:extLst>
            </p:cNvPr>
            <p:cNvCxnSpPr>
              <a:cxnSpLocks/>
              <a:stCxn id="13" idx="3"/>
              <a:endCxn id="12" idx="1"/>
            </p:cNvCxnSpPr>
            <p:nvPr/>
          </p:nvCxnSpPr>
          <p:spPr>
            <a:xfrm flipV="1">
              <a:off x="10154300" y="12586179"/>
              <a:ext cx="144675" cy="35557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C84F386-618C-7A2D-729A-72E6C72AD565}"/>
                </a:ext>
              </a:extLst>
            </p:cNvPr>
            <p:cNvSpPr/>
            <p:nvPr/>
          </p:nvSpPr>
          <p:spPr>
            <a:xfrm>
              <a:off x="0" y="-146144"/>
              <a:ext cx="32763834" cy="21067713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45A0698B-F281-E380-FF05-3644BAE79154}"/>
              </a:ext>
            </a:extLst>
          </p:cNvPr>
          <p:cNvSpPr txBox="1"/>
          <p:nvPr/>
        </p:nvSpPr>
        <p:spPr>
          <a:xfrm>
            <a:off x="12329529" y="4632786"/>
            <a:ext cx="6402177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8E1223"/>
                </a:solidFill>
              </a:rPr>
              <a:t>Background and Data</a:t>
            </a:r>
          </a:p>
          <a:p>
            <a:r>
              <a:rPr lang="en-US" sz="2800" dirty="0"/>
              <a:t>Chromatin accessibility controls which genes are expressed.</a:t>
            </a:r>
          </a:p>
          <a:p>
            <a:r>
              <a:rPr lang="en-US" sz="2800" b="1" dirty="0" err="1"/>
              <a:t>scATAC</a:t>
            </a:r>
            <a:r>
              <a:rPr lang="en-US" sz="2800" b="1" dirty="0"/>
              <a:t>-seq</a:t>
            </a:r>
            <a:r>
              <a:rPr lang="en-US" sz="2800" dirty="0"/>
              <a:t>: measures open chromatin regions (peaks).</a:t>
            </a:r>
          </a:p>
          <a:p>
            <a:r>
              <a:rPr lang="en-US" sz="2800" b="1" dirty="0" err="1"/>
              <a:t>scRNA</a:t>
            </a:r>
            <a:r>
              <a:rPr lang="en-US" sz="2800" b="1" dirty="0"/>
              <a:t>-seq</a:t>
            </a:r>
            <a:r>
              <a:rPr lang="en-US" sz="2800" dirty="0"/>
              <a:t>: measures gene expression levels.</a:t>
            </a:r>
            <a:br>
              <a:rPr lang="en-US" sz="2800" dirty="0"/>
            </a:br>
            <a:r>
              <a:rPr lang="en-US" sz="2800" dirty="0"/>
              <a:t>By jointly analyzing both, p2gNMF uncovers regulatory modules that explain how accessibility patterns give rise to transcriptional programs.</a:t>
            </a:r>
            <a:br>
              <a:rPr lang="en-US" sz="2800" dirty="0"/>
            </a:br>
            <a:r>
              <a:rPr lang="en-US" sz="2800" dirty="0"/>
              <a:t>Data tested: 10x Genomics PBMC (Peripheral Blood Mononuclear Cells) </a:t>
            </a:r>
            <a:r>
              <a:rPr lang="en-US" sz="2800" dirty="0" err="1"/>
              <a:t>multiome</a:t>
            </a:r>
            <a:r>
              <a:rPr lang="en-US" sz="2800" dirty="0"/>
              <a:t> dataset (paired </a:t>
            </a:r>
            <a:r>
              <a:rPr lang="en-US" sz="2800" dirty="0" err="1"/>
              <a:t>scATAC</a:t>
            </a:r>
            <a:r>
              <a:rPr lang="en-US" sz="2800" dirty="0"/>
              <a:t> + </a:t>
            </a:r>
            <a:r>
              <a:rPr lang="en-US" sz="2800" dirty="0" err="1"/>
              <a:t>scRNA</a:t>
            </a:r>
            <a:r>
              <a:rPr lang="en-US" sz="2800" dirty="0"/>
              <a:t>).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A660F3-7741-37B6-3138-0D70FE6C2951}"/>
              </a:ext>
            </a:extLst>
          </p:cNvPr>
          <p:cNvGrpSpPr/>
          <p:nvPr/>
        </p:nvGrpSpPr>
        <p:grpSpPr>
          <a:xfrm>
            <a:off x="25206747" y="4565101"/>
            <a:ext cx="11925809" cy="15869435"/>
            <a:chOff x="18670977" y="4771728"/>
            <a:chExt cx="11925809" cy="15869435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599DA6D-9EFE-A1C9-5136-DA508AB18E84}"/>
                </a:ext>
              </a:extLst>
            </p:cNvPr>
            <p:cNvSpPr txBox="1"/>
            <p:nvPr/>
          </p:nvSpPr>
          <p:spPr>
            <a:xfrm>
              <a:off x="18670977" y="4771728"/>
              <a:ext cx="11286374" cy="5940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8E1223"/>
                  </a:solidFill>
                </a:rPr>
                <a:t>Results</a:t>
              </a:r>
              <a:endParaRPr lang="en-US" sz="2800" b="1" dirty="0"/>
            </a:p>
            <a:p>
              <a:r>
                <a:rPr lang="en-US" sz="2800" dirty="0"/>
                <a:t>- Applied p2gNMF to 9,329 PBMC </a:t>
              </a:r>
              <a:r>
                <a:rPr lang="en-US" sz="2800" dirty="0" err="1"/>
                <a:t>multiome</a:t>
              </a:r>
              <a:r>
                <a:rPr lang="en-US" sz="2800" dirty="0"/>
                <a:t> profiles combining </a:t>
              </a:r>
              <a:r>
                <a:rPr lang="en-US" sz="2800" dirty="0" err="1"/>
                <a:t>scATAC</a:t>
              </a:r>
              <a:r>
                <a:rPr lang="en-US" sz="2800" dirty="0"/>
                <a:t>-seq and </a:t>
              </a:r>
              <a:r>
                <a:rPr lang="en-US" sz="2800" dirty="0" err="1"/>
                <a:t>scRNA</a:t>
              </a:r>
              <a:r>
                <a:rPr lang="en-US" sz="2800" dirty="0"/>
                <a:t>-seq. </a:t>
              </a:r>
            </a:p>
            <a:p>
              <a:r>
                <a:rPr lang="en-US" sz="2800" dirty="0"/>
                <a:t>- The method produced per-cell peak-to-gene regulation matrices, enabling interpretation of cis-regulatory influences at single-cell resolution. </a:t>
              </a:r>
            </a:p>
            <a:p>
              <a:r>
                <a:rPr lang="en-US" sz="2800" dirty="0"/>
                <a:t>- Learned latent factors recapitulated known immune cell clusters and reflected biologically meaningful co-accessibility patterns. </a:t>
              </a:r>
            </a:p>
            <a:p>
              <a:r>
                <a:rPr lang="en-US" sz="2800" dirty="0"/>
                <a:t>- Compared against heuristic approaches (e.g., </a:t>
              </a:r>
              <a:r>
                <a:rPr lang="en-US" sz="2800" dirty="0" err="1"/>
                <a:t>ArchR</a:t>
              </a:r>
              <a:r>
                <a:rPr lang="en-US" sz="2800" dirty="0"/>
                <a:t>), p2gNMF captured direct peak-to-gene associations per cell rather than aggregated cluster-level signals. </a:t>
              </a:r>
            </a:p>
            <a:p>
              <a:r>
                <a:rPr lang="en-US" sz="2800" dirty="0"/>
                <a:t>- Correlation analysis between accessibility and expression vectors confirmed that the inferred associations were biologically coherent and consistent with known regulation.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8525B80-2B4B-C43F-9DF4-FE0407434A57}"/>
                </a:ext>
              </a:extLst>
            </p:cNvPr>
            <p:cNvSpPr txBox="1"/>
            <p:nvPr/>
          </p:nvSpPr>
          <p:spPr>
            <a:xfrm>
              <a:off x="18670978" y="11521514"/>
              <a:ext cx="2430018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Left: UMAP projection of </a:t>
              </a:r>
              <a:r>
                <a:rPr lang="en-US" sz="20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scRNA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-seq profiles from 9,329 PBMCs,</a:t>
              </a:r>
            </a:p>
            <a:p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  <a:p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Right: Hierarchically ordered similarity matrix of cluster-level accessibility on chromosome 9</a:t>
              </a:r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5C1B15B-0540-42B1-B3E3-E12AAB727C11}"/>
                </a:ext>
              </a:extLst>
            </p:cNvPr>
            <p:cNvSpPr txBox="1"/>
            <p:nvPr/>
          </p:nvSpPr>
          <p:spPr>
            <a:xfrm>
              <a:off x="18670977" y="18148173"/>
              <a:ext cx="11925809" cy="2492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8E1223"/>
                  </a:solidFill>
                </a:rPr>
                <a:t>Conclusion</a:t>
              </a:r>
            </a:p>
            <a:p>
              <a:r>
                <a:rPr lang="en-US" sz="2800" dirty="0"/>
                <a:t>p2gNMF is a scalable method for mapping chromatin accessibility to gene expression. It enables new biological insights into regulatory architecture and provides a foundation for Bayesian extensions that incorporate prior knowledge and quantify uncertainty.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B6088B48-2F29-000A-1B90-D32CFB65173D}"/>
              </a:ext>
            </a:extLst>
          </p:cNvPr>
          <p:cNvSpPr txBox="1"/>
          <p:nvPr/>
        </p:nvSpPr>
        <p:spPr>
          <a:xfrm>
            <a:off x="1001658" y="1341844"/>
            <a:ext cx="266723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p2gNMF: Peak-to-Gene Non-Negative Matrix Factorization</a:t>
            </a:r>
            <a:br>
              <a:rPr lang="en-US" sz="5400" dirty="0"/>
            </a:br>
            <a:r>
              <a:rPr lang="en-US" sz="3600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Reetom Gangopadhyay, Ameya Gokhale,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Pawel </a:t>
            </a:r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Przytycki</a:t>
            </a:r>
            <a:endParaRPr lang="en-US" sz="3600" b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i="1" dirty="0" err="1">
                <a:latin typeface="Calibri" panose="020F0502020204030204" pitchFamily="34" charset="0"/>
                <a:cs typeface="Calibri" panose="020F0502020204030204" pitchFamily="34" charset="0"/>
              </a:rPr>
              <a:t>Przytycki</a:t>
            </a:r>
            <a:r>
              <a:rPr lang="en-US" sz="3600" i="1" dirty="0">
                <a:latin typeface="Calibri" panose="020F0502020204030204" pitchFamily="34" charset="0"/>
                <a:cs typeface="Calibri" panose="020F0502020204030204" pitchFamily="34" charset="0"/>
              </a:rPr>
              <a:t> Lab, Boston University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8FB947-5554-4EBA-DBE9-991C86ACCBB4}"/>
              </a:ext>
            </a:extLst>
          </p:cNvPr>
          <p:cNvSpPr/>
          <p:nvPr/>
        </p:nvSpPr>
        <p:spPr>
          <a:xfrm>
            <a:off x="27825894" y="780396"/>
            <a:ext cx="2236763" cy="15785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8A4E36F7-56EC-DD75-D93E-6C798D7DD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6105" y="889787"/>
            <a:ext cx="8639346" cy="267616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2A7A06-388C-350C-8808-215A10DB16C4}"/>
              </a:ext>
            </a:extLst>
          </p:cNvPr>
          <p:cNvSpPr txBox="1"/>
          <p:nvPr/>
        </p:nvSpPr>
        <p:spPr>
          <a:xfrm>
            <a:off x="678553" y="4703335"/>
            <a:ext cx="829733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8E1223"/>
                </a:solidFill>
              </a:rPr>
              <a:t>Abstract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p2gNMF (Peak-to-Gene Non-Negative Matrix Factorization) is a computational framework for integrating single-cell chromatin accessibility (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scATAC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-seq) with transcriptomic data (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scRNA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-seq). Unlike traditional approaches that aggregate signals across cell types to address sparsity, p2gNMF infers peak–gene relationships at the single-cell level. By aligning accessibility peaks with gene expression through joint factorization, the method uncovers regulatory influences that shape cellular identity with cell-specific resolution.</a:t>
            </a:r>
            <a:endParaRPr lang="en-US" sz="4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3B0F4C-83AA-9569-0DF8-E0111B0D1290}"/>
              </a:ext>
            </a:extLst>
          </p:cNvPr>
          <p:cNvSpPr txBox="1"/>
          <p:nvPr/>
        </p:nvSpPr>
        <p:spPr>
          <a:xfrm>
            <a:off x="724361" y="10374923"/>
            <a:ext cx="5797136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8E1223"/>
                </a:solidFill>
              </a:rPr>
              <a:t>Inquiry Justification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Most existing methods correlate peaks and genes at a global or cluster-aggregated level, which smooths away cell-to-cell variability and masks finer regulatory logic. This strategy is often a workaround for data sparsity but sacrifices resolution. In contrast, p2gNMF directly models single-cell peak–gene associations, yielding interpretable, per-cell regulatory maps that better capture cis-regulatory dynamics and variability across individual cells.</a:t>
            </a:r>
            <a:endParaRPr lang="en-US" sz="44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83F125-07FC-2EB0-CE93-700F88101539}"/>
              </a:ext>
            </a:extLst>
          </p:cNvPr>
          <p:cNvSpPr txBox="1"/>
          <p:nvPr/>
        </p:nvSpPr>
        <p:spPr>
          <a:xfrm>
            <a:off x="699637" y="16801992"/>
            <a:ext cx="582186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8E1223"/>
                </a:solidFill>
              </a:rPr>
              <a:t>Research Question</a:t>
            </a:r>
          </a:p>
          <a:p>
            <a:r>
              <a:rPr lang="en-US" sz="2800" dirty="0"/>
              <a:t>How can we computationally model regulatory relationships between chromatin accessibility and gene expression to infer cell-specific, rather than cell-type-averaged, peak–gene associations at single-cell resolution?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085E7A-BFA7-8A5D-F79C-4CE841DD2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7414" y="9877073"/>
            <a:ext cx="4029318" cy="879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B98BDA4-B6C5-C03A-D86F-B31DF7832BCB}"/>
              </a:ext>
            </a:extLst>
          </p:cNvPr>
          <p:cNvSpPr txBox="1"/>
          <p:nvPr/>
        </p:nvSpPr>
        <p:spPr>
          <a:xfrm>
            <a:off x="12308372" y="11644261"/>
            <a:ext cx="6816454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8E1223"/>
                </a:solidFill>
              </a:rPr>
              <a:t>Methods</a:t>
            </a:r>
          </a:p>
          <a:p>
            <a:r>
              <a:rPr lang="en-US" sz="2800" dirty="0"/>
              <a:t>The decomposition for joint factorization was done with </a:t>
            </a:r>
            <a:r>
              <a:rPr lang="en-US" sz="2800" b="1" dirty="0"/>
              <a:t>Non-Negative Matrix Factorization (NMF)</a:t>
            </a:r>
            <a:r>
              <a:rPr lang="en-US" sz="2800" dirty="0"/>
              <a:t>, applied separately to </a:t>
            </a:r>
            <a:r>
              <a:rPr lang="en-US" sz="2800" dirty="0" err="1"/>
              <a:t>scATAC</a:t>
            </a:r>
            <a:r>
              <a:rPr lang="en-US" sz="2800" dirty="0"/>
              <a:t>-seq (peaks) and </a:t>
            </a:r>
            <a:r>
              <a:rPr lang="en-US" sz="2800" dirty="0" err="1"/>
              <a:t>scRNA</a:t>
            </a:r>
            <a:r>
              <a:rPr lang="en-US" sz="2800" dirty="0"/>
              <a:t>-seq (genes) to produce coupled latent factors.</a:t>
            </a:r>
          </a:p>
          <a:p>
            <a:endParaRPr lang="en-US" sz="2800" dirty="0"/>
          </a:p>
          <a:p>
            <a:r>
              <a:rPr lang="en-US" sz="2800" dirty="0"/>
              <a:t>For </a:t>
            </a:r>
            <a:r>
              <a:rPr lang="en-US" sz="2800" b="1" dirty="0"/>
              <a:t>cross-modality alignment</a:t>
            </a:r>
            <a:r>
              <a:rPr lang="en-US" sz="2800" dirty="0"/>
              <a:t>, we tested multiple strategies to match latent spaces between ATAC and RNA, including:</a:t>
            </a:r>
          </a:p>
          <a:p>
            <a:pPr lvl="1"/>
            <a:r>
              <a:rPr lang="en-US" sz="2800" dirty="0"/>
              <a:t>- Gromov–Wasserstein Optimal Transport (OT)</a:t>
            </a:r>
          </a:p>
          <a:p>
            <a:pPr lvl="1"/>
            <a:r>
              <a:rPr lang="en-US" sz="2800" dirty="0"/>
              <a:t>- Canonical Correlation Analysis (CCA)</a:t>
            </a:r>
          </a:p>
          <a:p>
            <a:pPr lvl="1"/>
            <a:r>
              <a:rPr lang="en-US" sz="2800" dirty="0"/>
              <a:t>- Gaussian and diffusion kernels</a:t>
            </a:r>
          </a:p>
          <a:p>
            <a:pPr lvl="1"/>
            <a:r>
              <a:rPr lang="en-US" sz="2800" dirty="0"/>
              <a:t>- Sinkhorn OT</a:t>
            </a:r>
          </a:p>
          <a:p>
            <a:pPr lvl="1"/>
            <a:r>
              <a:rPr lang="en-US" sz="2800" dirty="0"/>
              <a:t>- Autoencoder</a:t>
            </a:r>
          </a:p>
          <a:p>
            <a:r>
              <a:rPr lang="en-US" sz="2800" dirty="0"/>
              <a:t>We found that </a:t>
            </a:r>
            <a:r>
              <a:rPr lang="en-US" sz="2800" b="1" dirty="0"/>
              <a:t>correlation-based alignment</a:t>
            </a:r>
            <a:r>
              <a:rPr lang="en-US" sz="2800" dirty="0"/>
              <a:t> provided the most consistent results</a:t>
            </a:r>
          </a:p>
        </p:txBody>
      </p:sp>
      <p:pic>
        <p:nvPicPr>
          <p:cNvPr id="59" name="Picture 58" descr="A group of symbols with letters&#10;&#10;AI-generated content may be incorrect.">
            <a:extLst>
              <a:ext uri="{FF2B5EF4-FFF2-40B4-BE49-F238E27FC236}">
                <a16:creationId xmlns:a16="http://schemas.microsoft.com/office/drawing/2014/main" id="{7DC38472-7E8B-1028-D161-65E39A6A0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4142" y="14051849"/>
            <a:ext cx="5187434" cy="4504972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71E6A9CA-C396-71B6-BA41-11C6478EBF70}"/>
              </a:ext>
            </a:extLst>
          </p:cNvPr>
          <p:cNvGrpSpPr/>
          <p:nvPr/>
        </p:nvGrpSpPr>
        <p:grpSpPr>
          <a:xfrm>
            <a:off x="18929030" y="4692138"/>
            <a:ext cx="4877144" cy="7018074"/>
            <a:chOff x="19472882" y="4768472"/>
            <a:chExt cx="5392315" cy="7498872"/>
          </a:xfrm>
        </p:grpSpPr>
        <p:pic>
          <p:nvPicPr>
            <p:cNvPr id="73" name="Picture 72" descr="A diagram of a gene expression&#10;&#10;AI-generated content may be incorrect.">
              <a:extLst>
                <a:ext uri="{FF2B5EF4-FFF2-40B4-BE49-F238E27FC236}">
                  <a16:creationId xmlns:a16="http://schemas.microsoft.com/office/drawing/2014/main" id="{26305A06-606B-1CB5-D391-0EEF649E5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472882" y="4768472"/>
              <a:ext cx="5392315" cy="3582438"/>
            </a:xfrm>
            <a:prstGeom prst="rect">
              <a:avLst/>
            </a:prstGeom>
          </p:spPr>
        </p:pic>
        <p:pic>
          <p:nvPicPr>
            <p:cNvPr id="75" name="Picture 74" descr="A diagram of a dna sequence&#10;&#10;AI-generated content may be incorrect.">
              <a:extLst>
                <a:ext uri="{FF2B5EF4-FFF2-40B4-BE49-F238E27FC236}">
                  <a16:creationId xmlns:a16="http://schemas.microsoft.com/office/drawing/2014/main" id="{FC18FC00-8AB7-B3BF-972F-DC4000695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472882" y="8349896"/>
              <a:ext cx="5392315" cy="3917448"/>
            </a:xfrm>
            <a:prstGeom prst="rect">
              <a:avLst/>
            </a:prstGeom>
          </p:spPr>
        </p:pic>
      </p:grpSp>
      <p:pic>
        <p:nvPicPr>
          <p:cNvPr id="83" name="Picture 82" descr="A close-up of a map&#10;&#10;AI-generated content may be incorrect.">
            <a:extLst>
              <a:ext uri="{FF2B5EF4-FFF2-40B4-BE49-F238E27FC236}">
                <a16:creationId xmlns:a16="http://schemas.microsoft.com/office/drawing/2014/main" id="{5A975D45-196C-E10D-AE02-B7678EB757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33517" y="10754504"/>
            <a:ext cx="9102287" cy="42044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88FAA5-1832-CDF2-FA3D-A2C2BF203BCC}"/>
              </a:ext>
            </a:extLst>
          </p:cNvPr>
          <p:cNvSpPr txBox="1"/>
          <p:nvPr/>
        </p:nvSpPr>
        <p:spPr>
          <a:xfrm>
            <a:off x="7317471" y="18737628"/>
            <a:ext cx="3316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Example readout from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ArchR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D8D2BC-36FA-B56A-2520-CEAB6EBA0C0E}"/>
              </a:ext>
            </a:extLst>
          </p:cNvPr>
          <p:cNvSpPr txBox="1"/>
          <p:nvPr/>
        </p:nvSpPr>
        <p:spPr>
          <a:xfrm>
            <a:off x="25040286" y="15211448"/>
            <a:ext cx="118417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The UMAP shows clear separation of cell clusters, hence p2gNMF captures known cell </a:t>
            </a:r>
            <a:r>
              <a:rPr lang="en-US" sz="2800"/>
              <a:t>state identities</a:t>
            </a:r>
            <a:r>
              <a:rPr lang="en-US" sz="2800" dirty="0"/>
              <a:t>. </a:t>
            </a:r>
          </a:p>
          <a:p>
            <a:endParaRPr lang="en-US" sz="2800" dirty="0"/>
          </a:p>
          <a:p>
            <a:r>
              <a:rPr lang="en-US" sz="2800" dirty="0"/>
              <a:t>- The heatmap shows cluster-specific chromatin co-accessibility patterns (darker color is better), demonstrating that p2gNMF recovers meaningful regulatory programs.</a:t>
            </a:r>
          </a:p>
        </p:txBody>
      </p:sp>
    </p:spTree>
    <p:extLst>
      <p:ext uri="{BB962C8B-B14F-4D97-AF65-F5344CB8AC3E}">
        <p14:creationId xmlns:p14="http://schemas.microsoft.com/office/powerpoint/2010/main" val="3414882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11416</TotalTime>
  <Words>551</Words>
  <Application>Microsoft Macintosh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Kathrynn Phillippe</dc:creator>
  <cp:lastModifiedBy>Gangopadhyay, Reetom</cp:lastModifiedBy>
  <cp:revision>20</cp:revision>
  <dcterms:created xsi:type="dcterms:W3CDTF">2022-12-14T16:33:07Z</dcterms:created>
  <dcterms:modified xsi:type="dcterms:W3CDTF">2025-09-27T00:35:06Z</dcterms:modified>
</cp:coreProperties>
</file>